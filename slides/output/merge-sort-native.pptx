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svg" ContentType="image/svg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51727f31bea478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9cbe6acfa144f13"/>
    <p:sldId id="257" r:id="R748ce597c7d44b25"/>
    <p:sldId id="258" r:id="Rbb84fd04dd984173"/>
    <p:sldId id="259" r:id="Ra4871e3d40134ae3"/>
    <p:sldId id="260" r:id="R2227d551fabe4fe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9cbe6acfa144f13" /><Relationship Type="http://schemas.openxmlformats.org/officeDocument/2006/relationships/slide" Target="/ppt/slides/slide2.xml" Id="R748ce597c7d44b25" /><Relationship Type="http://schemas.openxmlformats.org/officeDocument/2006/relationships/slide" Target="/ppt/slides/slide3.xml" Id="Rbb84fd04dd984173" /><Relationship Type="http://schemas.openxmlformats.org/officeDocument/2006/relationships/slide" Target="/ppt/slides/slide4.xml" Id="Ra4871e3d40134ae3" /><Relationship Type="http://schemas.openxmlformats.org/officeDocument/2006/relationships/slide" Target="/ppt/slides/slide5.xml" Id="R2227d551fabe4fe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8e093a45843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e4709fe9a43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328f1c9144a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e695c7b1345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d98064e6a480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eda2d5059d9401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58c1c1f5b946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5bc58f951c342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396d3f6f06443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61678c7daa46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30c385afd4d46dc" /><Relationship Type="http://schemas.openxmlformats.org/officeDocument/2006/relationships/image" Target="/ppt/media/image.svg" Id="R228166976c2849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Merge Sort と分割統治法</a:t>
            </a:r>
          </a:p>
        </p:txBody>
      </p:sp>
      <p:sp>
        <p:nvSpPr>
          <p:cNvPr id="10000" name="TextBox 2"/>
          <p:cNvSpPr/>
          <p:nvPr/>
        </p:nvSpPr>
        <p:spPr>
          <a:xfrm xmlns:a="http://schemas.openxmlformats.org/drawingml/2006/main">
            <a:off x="1440000" y="396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666666"/>
                </a:solidFill>
              </a:rPr>
              <a:t>Section 2.3 prototype / native-editable draft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ソート問題のおさらい</a:t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720000" y="1800000"/>
            <a:ext cx="936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rPr lang="en-US" sz="1600"/>
              <a:t>入力: n 個の数の列 &lt;a₁, a₂, ..., aₙ&gt;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600"/>
              <a:t>出力: 入力を昇順に並べた列 &lt;a₁' ≤ a₂' ≤ ... ≤ aₙ'&gt;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600"/>
              <a:t>応用: 検索の前処理、データ圧縮、幾何アルゴリズムの前置</a:t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720000" y="504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i="1">
                <a:solidFill>
                  <a:srgbClr val="444444"/>
                </a:solidFill>
              </a:rPr>
              <a:t>→ 「ソート」は計算機科学で最も基本的かつ応用の広い問題の一つ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既存アルゴリズムの限界</a:t>
            </a:r>
          </a:p>
        </p:txBody>
      </p:sp>
      <p:graphicFrame>
        <p:nvGraphicFramePr>
          <p:cNvPr id="10003" name="Table 1"/>
          <p:cNvGraphicFramePr/>
          <p:nvPr/>
        </p:nvGraphicFramePr>
        <p:xfrm>
          <a:off xmlns:a="http://schemas.openxmlformats.org/drawingml/2006/main" x="720000" y="1800000"/>
          <a:ext xmlns:a="http://schemas.openxmlformats.org/drawingml/2006/main" cx="936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40000"/>
                <a:gridCol w="2340000"/>
                <a:gridCol w="2340000"/>
                <a:gridCol w="2340000"/>
              </a:tblGrid>
              <a:tr h="6012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FFFFFF"/>
                          </a:solidFill>
                        </a:rPr>
                        <a:t>アルゴリズム</a:t>
                      </a:r>
                      <a:endParaRPr lang="en-US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FFFFFF"/>
                          </a:solidFill>
                        </a:rPr>
                        <a:t>Worst</a:t>
                      </a:r>
                      <a:endParaRPr lang="en-US"/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01200">
                <a:tc>
                  <a:txBody>
                    <a:bodyPr/>
                    <a:lstStyle/>
                    <a:p>
                      <a:r>
                        <a:rPr lang="en-US"/>
                        <a:t>Insertion Sort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Θ(n)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Θ(n²)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Θ(n²)</a:t>
                      </a:r>
                      <a:endParaRPr lang="en-US"/>
                    </a:p>
                  </a:txBody>
                  <a:tcPr/>
                </a:tc>
              </a:tr>
              <a:tr h="601200">
                <a:tc>
                  <a:txBody>
                    <a:bodyPr/>
                    <a:lstStyle/>
                    <a:p>
                      <a:r>
                        <a:rPr lang="en-US"/>
                        <a:t>Selection Sort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Θ(n²)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Θ(n²)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Θ(n²)</a:t>
                      </a:r>
                      <a:endParaRPr lang="en-US"/>
                    </a:p>
                  </a:txBody>
                  <a:tcPr/>
                </a:tc>
              </a:tr>
              <a:tr h="601200">
                <a:tc>
                  <a:txBody>
                    <a:bodyPr/>
                    <a:lstStyle/>
                    <a:p>
                      <a:r>
                        <a:rPr lang="en-US"/>
                        <a:t>比較ベースの下界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—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Ω(n log n)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Ω(n log n)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4" name="TextBox 2"/>
          <p:cNvSpPr/>
          <p:nvPr/>
        </p:nvSpPr>
        <p:spPr>
          <a:xfrm xmlns:a="http://schemas.openxmlformats.org/drawingml/2006/main">
            <a:off x="720000" y="576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→ 比較ベースのソートは Θ(n log n) が下界 → より速いアルゴリズムは別の戦略が必要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分割統治法（Divide and Conquer）とは</a:t>
            </a:r>
          </a:p>
        </p:txBody>
      </p:sp>
      <p:sp>
        <p:nvSpPr>
          <p:cNvPr id="10005" name="TextBox 2"/>
          <p:cNvSpPr/>
          <p:nvPr/>
        </p:nvSpPr>
        <p:spPr>
          <a:xfrm xmlns:a="http://schemas.openxmlformats.org/drawingml/2006/main">
            <a:off x="720000" y="1800000"/>
            <a:ext cx="936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457200" indent="-457200">
              <a:buAutoNum type="arabicPeriod"/>
            </a:pPr>
            <a:r>
              <a:rPr lang="en-US" sz="1600"/>
              <a:t>1. Divide（分割）: 問題をより小さな部分問題に分割する</a:t>
            </a:r>
          </a:p>
          <a:p xmlns:a="http://schemas.openxmlformats.org/drawingml/2006/main">
            <a:pPr marL="457200" indent="-457200">
              <a:buAutoNum type="arabicPeriod"/>
            </a:pPr>
            <a:r>
              <a:rPr lang="en-US" sz="1600"/>
              <a:t>2. Conquer（征服）: 部分問題を再帰的に解く（基底ケースに到達するまで）</a:t>
            </a:r>
          </a:p>
          <a:p xmlns:a="http://schemas.openxmlformats.org/drawingml/2006/main">
            <a:pPr marL="457200" indent="-457200">
              <a:buAutoNum type="arabicPeriod"/>
            </a:pPr>
            <a:r>
              <a:rPr lang="en-US" sz="1600"/>
              <a:t>3. Combine（統合）: 部分問題の解を組み合わせて全体の解を得る</a:t>
            </a:r>
          </a:p>
        </p:txBody>
      </p:sp>
      <p:sp>
        <p:nvSpPr>
          <p:cNvPr id="10006" name="TextBox 3"/>
          <p:cNvSpPr/>
          <p:nvPr/>
        </p:nvSpPr>
        <p:spPr>
          <a:xfrm xmlns:a="http://schemas.openxmlformats.org/drawingml/2006/main">
            <a:off x="720000" y="576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※ Merge Sort は分割統治法の代表的な応用例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分割統治法のイメージ</a:t>
            </a:r>
          </a:p>
        </p:txBody>
      </p:sp>
      <p:pic>
        <p:nvPicPr>
          <p:cNvPr id="10007" name="Picture 1" descr="divide-and-conquer-paradigm.sv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166976c28495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0000" y="1800000"/>
            <a:ext cx="5760000" cy="3600000"/>
          </a:xfrm>
          <a:prstGeom xmlns:a="http://schemas.openxmlformats.org/drawingml/2006/main" prst="rect">
            <a:avLst/>
          </a:prstGeom>
        </p:spPr>
      </p:pic>
      <p:sp>
        <p:nvSpPr>
          <p:cNvPr id="10008" name="TextBox 2"/>
          <p:cNvSpPr/>
          <p:nvPr/>
        </p:nvSpPr>
        <p:spPr>
          <a:xfrm xmlns:a="http://schemas.openxmlformats.org/drawingml/2006/main">
            <a:off x="6480000" y="1800000"/>
            <a:ext cx="504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rPr lang="en-US" sz="1400"/>
              <a:t>問題を半分に分割し、再帰で解く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400"/>
              <a:t>部分問題の解を Merge で統合する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400"/>
              <a:t>全体の計算量は T(n) = 2T(n/2) + Θ(n)</a:t>
            </a:r>
          </a:p>
        </p:txBody>
      </p:sp>
      <p:sp>
        <p:nvSpPr>
          <p:cNvPr id="10009" name="TextBox 3"/>
          <p:cNvSpPr/>
          <p:nvPr/>
        </p:nvSpPr>
        <p:spPr>
          <a:xfrm xmlns:a="http://schemas.openxmlformats.org/drawingml/2006/main">
            <a:off x="6480000" y="5040000"/>
            <a:ext cx="50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※ 再帰の深さは log n、各レベルで Θ(n) の統合作業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