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svg" ContentType="image/svg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52c4e498c4a4dc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0c4a11990b54e9b"/>
    <p:sldId id="257" r:id="Rf03ac220d3bc4aa9"/>
    <p:sldId id="258" r:id="Rebe519872bf0421f"/>
    <p:sldId id="259" r:id="Rddabc5a7e44445d3"/>
    <p:sldId id="260" r:id="R4f4ab6da4e16423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0c4a11990b54e9b" /><Relationship Type="http://schemas.openxmlformats.org/officeDocument/2006/relationships/slide" Target="/ppt/slides/slide2.xml" Id="Rf03ac220d3bc4aa9" /><Relationship Type="http://schemas.openxmlformats.org/officeDocument/2006/relationships/slide" Target="/ppt/slides/slide3.xml" Id="Rebe519872bf0421f" /><Relationship Type="http://schemas.openxmlformats.org/officeDocument/2006/relationships/slide" Target="/ppt/slides/slide4.xml" Id="Rddabc5a7e44445d3" /><Relationship Type="http://schemas.openxmlformats.org/officeDocument/2006/relationships/slide" Target="/ppt/slides/slide5.xml" Id="R4f4ab6da4e16423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ae52f2c704e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0b15858144a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494217a1d4d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bb39267a24e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98c2bfd1146c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548df4504e443e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84689d96384d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41274840104f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81231b125bb49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00ed0c58b164a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511d0df5f8843a3" /><Relationship Type="http://schemas.openxmlformats.org/officeDocument/2006/relationships/image" Target="/ppt/media/image.svg" Id="R1cbf2e9c329e4f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Growth of Functions（関数の増加度）</a:t>
            </a:r>
          </a:p>
        </p:txBody>
      </p:sp>
      <p:sp>
        <p:nvSpPr>
          <p:cNvPr id="10000" name="TextBox 2"/>
          <p:cNvSpPr/>
          <p:nvPr/>
        </p:nvSpPr>
        <p:spPr>
          <a:xfrm xmlns:a="http://schemas.openxmlformats.org/drawingml/2006/main">
            <a:off x="1440000" y="3960000"/>
            <a:ext cx="93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666666"/>
                </a:solidFill>
              </a:rPr>
              <a:t>Chapter 3 prototype / native-editable draft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なぜ漸近的記法が必要か</a:t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720000" y="1800000"/>
            <a:ext cx="936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rPr lang="en-US" sz="1600"/>
              <a:t>同じアルゴリズムでも、実装・ハードウェア・入力によって定数係数が変わる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600"/>
              <a:t>3n² + 17n + 5 と 7n² + 2n + 11 は、詳細は違うが増え方は同じ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600"/>
              <a:t>大きな n に対しては、定数係数や低次項は無視してよい</a:t>
            </a:r>
          </a:p>
        </p:txBody>
      </p:sp>
      <p:sp>
        <p:nvSpPr>
          <p:cNvPr id="10002" name="TextBox 3"/>
          <p:cNvSpPr/>
          <p:nvPr/>
        </p:nvSpPr>
        <p:spPr>
          <a:xfrm xmlns:a="http://schemas.openxmlformats.org/drawingml/2006/main">
            <a:off x="720000" y="5040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i="1">
                <a:solidFill>
                  <a:srgbClr val="444444"/>
                </a:solidFill>
              </a:rPr>
              <a:t>→ 増え方のオーダーを簡潔に表す道具が「漸近的記法（asymptotic notation）」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実数の大小関係とのアナロジー</a:t>
            </a:r>
          </a:p>
        </p:txBody>
      </p:sp>
      <p:graphicFrame>
        <p:nvGraphicFramePr>
          <p:cNvPr id="10003" name="Table 1"/>
          <p:cNvGraphicFramePr/>
          <p:nvPr/>
        </p:nvGraphicFramePr>
        <p:xfrm>
          <a:off xmlns:a="http://schemas.openxmlformats.org/drawingml/2006/main" x="720000" y="1800000"/>
          <a:ext xmlns:a="http://schemas.openxmlformats.org/drawingml/2006/main" cx="936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20000"/>
                <a:gridCol w="3120000"/>
                <a:gridCol w="3120000"/>
              </a:tblGrid>
              <a:tr h="60000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FFFFFF"/>
                          </a:solidFill>
                        </a:rPr>
                        <a:t>実数の比較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FFFFFF"/>
                          </a:solidFill>
                        </a:rPr>
                        <a:t>漸近的比較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FFFFFF"/>
                          </a:solidFill>
                        </a:rPr>
                        <a:t>意味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lang="en-US"/>
                        <a:t>a =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 = Θ(g)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同じオーダー（同じ増え方）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lang="en-US"/>
                        <a:t>a ≤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 = O(g)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 は g 以下の増え方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lang="en-US"/>
                        <a:t>a ≥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 = Ω(g)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 は g 以上の増え方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lang="en-US"/>
                        <a:t>a &lt;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 = o(g)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 は g より厳密に小さい増え方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lang="en-US"/>
                        <a:t>a &gt;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 = ω(g)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 は g より厳密に大きい増え方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4" name="TextBox 2"/>
          <p:cNvSpPr/>
          <p:nvPr/>
        </p:nvSpPr>
        <p:spPr>
          <a:xfrm xmlns:a="http://schemas.openxmlformats.org/drawingml/2006/main">
            <a:off x="720000" y="5760000"/>
            <a:ext cx="93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※ ただし重要な違いもある（三分律が成り立たない）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Θ 記法の定義</a:t>
            </a:r>
          </a:p>
        </p:txBody>
      </p:sp>
      <p:sp>
        <p:nvSpPr>
          <p:cNvPr id="10005" name="TextBox 2"/>
          <p:cNvSpPr/>
          <p:nvPr/>
        </p:nvSpPr>
        <p:spPr>
          <a:xfrm xmlns:a="http://schemas.openxmlformats.org/drawingml/2006/main">
            <a:off x="720000" y="1800000"/>
            <a:ext cx="936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latin typeface="Courier New"/>
                <a:ea typeface="Courier New"/>
              </a:rPr>
              <a:t>∀ n ≥ n₀ :  0 ≤ c₁・g(n) ≤ f(n) ≤ c₂・g(n)</a:t>
            </a:r>
          </a:p>
        </p:txBody>
      </p:sp>
      <p:sp>
        <p:nvSpPr>
          <p:cNvPr id="10006" name="TextBox 3"/>
          <p:cNvSpPr/>
          <p:nvPr/>
        </p:nvSpPr>
        <p:spPr>
          <a:xfrm xmlns:a="http://schemas.openxmlformats.org/drawingml/2006/main">
            <a:off x="720000" y="3240000"/>
            <a:ext cx="936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rPr lang="en-US" sz="1400"/>
              <a:t>n が十分大きければ、f(n) は g(n) の定数倍の範囲内に収まる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400"/>
              <a:t>c₁・g(n) が下の壁、c₂・g(n) が上の壁</a:t>
            </a:r>
          </a:p>
        </p:txBody>
      </p:sp>
      <p:sp>
        <p:nvSpPr>
          <p:cNvPr id="10007" name="TextBox 4"/>
          <p:cNvSpPr/>
          <p:nvPr/>
        </p:nvSpPr>
        <p:spPr>
          <a:xfrm xmlns:a="http://schemas.openxmlformats.org/drawingml/2006/main">
            <a:off x="720000" y="5400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4472C4"/>
                </a:solidFill>
              </a:rPr>
              <a:t>直感: f と g は「同じ増え方をする」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定義の図示（O 記法の例）</a:t>
            </a:r>
          </a:p>
        </p:txBody>
      </p:sp>
      <p:pic>
        <p:nvPicPr>
          <p:cNvPr id="10008" name="Picture 1" descr="asymptotic-notation-graph.sv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f2e9c329e4fa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0000" y="1800000"/>
            <a:ext cx="5760000" cy="3600000"/>
          </a:xfrm>
          <a:prstGeom xmlns:a="http://schemas.openxmlformats.org/drawingml/2006/main" prst="rect">
            <a:avLst/>
          </a:prstGeom>
        </p:spPr>
      </p:pic>
      <p:sp>
        <p:nvSpPr>
          <p:cNvPr id="10009" name="TextBox 2"/>
          <p:cNvSpPr/>
          <p:nvPr/>
        </p:nvSpPr>
        <p:spPr>
          <a:xfrm xmlns:a="http://schemas.openxmlformats.org/drawingml/2006/main">
            <a:off x="6480000" y="1800000"/>
            <a:ext cx="504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457200" indent="-457200">
              <a:buChar char="•"/>
            </a:pPr>
            <a:r>
              <a:rPr lang="en-US" sz="1400"/>
              <a:t>n₀ より右では、f(n) は常に c・g(n) 以下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400"/>
              <a:t>n₀ より左では、f(n) が c・g(n) を上回っていてもよい</a:t>
            </a:r>
          </a:p>
          <a:p xmlns:a="http://schemas.openxmlformats.org/drawingml/2006/main">
            <a:pPr marL="457200" indent="-457200">
              <a:buChar char="•"/>
            </a:pPr>
            <a:r>
              <a:rPr lang="en-US" sz="1400"/>
              <a:t>c は n に依存しない定数である（ここが重要）</a:t>
            </a:r>
          </a:p>
        </p:txBody>
      </p:sp>
      <p:sp>
        <p:nvSpPr>
          <p:cNvPr id="10010" name="TextBox 3"/>
          <p:cNvSpPr/>
          <p:nvPr/>
        </p:nvSpPr>
        <p:spPr>
          <a:xfrm xmlns:a="http://schemas.openxmlformats.org/drawingml/2006/main">
            <a:off x="6480000" y="5040000"/>
            <a:ext cx="50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※ 上の壁は g(n) ではなく c・g(n)（定数倍）である点に注意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